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32688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92024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SIH1608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AI-Powered Application Validation, Document Authentication &amp; Regulatory Compliance Verification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ZENITH (Solution: AegisDocs)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37360" y="45720"/>
            <a:ext cx="7955279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AegisDocs: AI-Powered Application Validation, Document Authentication &amp; Regulatory Compliance Verification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417320"/>
            <a:ext cx="12191999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US" sz="1400" b="0">
                <a:solidFill>
                  <a:srgbClr val="333333"/>
                </a:solidFill>
                <a:latin typeface="Arial"/>
              </a:rPr>
              <a:t>AegisDocs: Full-stack regulatory verification assistant for educational institution compliance (AICTE)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US" sz="1400" b="0">
                <a:solidFill>
                  <a:srgbClr val="333333"/>
                </a:solidFill>
                <a:latin typeface="Arial"/>
              </a:rPr>
              <a:t>Combines document processing, OCR and AI-assisted information extraction with rule-based validation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lang="en-US" sz="1400" b="0">
                <a:solidFill>
                  <a:srgbClr val="333333"/>
                </a:solidFill>
                <a:latin typeface="Arial"/>
              </a:rPr>
              <a:t>Three core pillars: Institution Portal, 6-Rule Compliance Engine (R001–R006), and Authority Review Dossier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400" b="0">
                <a:solidFill>
                  <a:srgbClr val="333333"/>
                </a:solidFill>
                <a:latin typeface="Arial"/>
              </a:rPr>
              <a:t>Extracts information from uploaded PDFs, scanned documents and images, and compares it with the application details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400" b="0">
                <a:solidFill>
                  <a:srgbClr val="333333"/>
                </a:solidFill>
                <a:latin typeface="Arial"/>
              </a:rPr>
              <a:t>Checks configurable compliance requirements, flags missing items and discrepancies, and generates an evidence-based report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400" b="0">
                <a:solidFill>
                  <a:srgbClr val="333333"/>
                </a:solidFill>
                <a:latin typeface="Arial"/>
              </a:rPr>
              <a:t>Automates slow manual document checking, cross-record comparison and completeness review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400" b="0">
                <a:solidFill>
                  <a:srgbClr val="333333"/>
                </a:solidFill>
                <a:latin typeface="Arial"/>
              </a:rPr>
              <a:t>Gives reviewers consistent, traceable findings; final approval or rejection stays with authorized personnel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400" b="0">
                <a:solidFill>
                  <a:srgbClr val="333333"/>
                </a:solidFill>
                <a:latin typeface="Arial"/>
              </a:rPr>
              <a:t>Every finding links back to the source document and extracted value - evidence traceability, not black-box output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400" b="0">
                <a:solidFill>
                  <a:srgbClr val="333333"/>
                </a:solidFill>
                <a:latin typeface="Arial"/>
              </a:rPr>
              <a:t>Configurable, versioned regulatory rule engine instead of fixed hard-coded checks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400" b="0">
                <a:solidFill>
                  <a:srgbClr val="333333"/>
                </a:solidFill>
                <a:latin typeface="Arial"/>
              </a:rPr>
              <a:t>Authentication assistance via digital signatures, QR codes and issuing-authority checks; unverifiable items are marked pending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ZENITH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188720"/>
            <a:ext cx="11247120" cy="2331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500" b="0">
                <a:solidFill>
                  <a:srgbClr val="333333"/>
                </a:solidFill>
                <a:latin typeface="Arial"/>
              </a:rPr>
              <a:t>React 18 &amp; Vite (Dual Portals: Institution &amp; Authority); Tesseract.js OCR &amp; PDF text extraction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500" b="0">
                <a:solidFill>
                  <a:srgbClr val="333333"/>
                </a:solidFill>
                <a:latin typeface="Arial"/>
              </a:rPr>
              <a:t>Node.js &amp; Express REST API; JSON store &amp; SHA-256 cryptographic hashing for duplicate detection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500" b="0">
                <a:solidFill>
                  <a:srgbClr val="333333"/>
                </a:solidFill>
                <a:latin typeface="Arial"/>
              </a:rPr>
              <a:t>Deterministic Regulatory Rule Engine (R001–R006), human-in-the-loop review, and pdf-lib report generation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ZENITH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Chevron 17410"/>
          <p:cNvSpPr/>
          <p:nvPr/>
        </p:nvSpPr>
        <p:spPr>
          <a:xfrm>
            <a:off x="411480" y="3703320"/>
            <a:ext cx="2395728" cy="713232"/>
          </a:xfrm>
          <a:prstGeom prst="chevron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Application Submission</a:t>
            </a:r>
          </a:p>
        </p:txBody>
      </p:sp>
      <p:sp>
        <p:nvSpPr>
          <p:cNvPr id="17412" name="Chevron 17411"/>
          <p:cNvSpPr/>
          <p:nvPr/>
        </p:nvSpPr>
        <p:spPr>
          <a:xfrm>
            <a:off x="2697480" y="3703320"/>
            <a:ext cx="2395728" cy="713232"/>
          </a:xfrm>
          <a:prstGeom prst="chevron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Document Upload</a:t>
            </a:r>
          </a:p>
        </p:txBody>
      </p:sp>
      <p:sp>
        <p:nvSpPr>
          <p:cNvPr id="17413" name="Chevron 17412"/>
          <p:cNvSpPr/>
          <p:nvPr/>
        </p:nvSpPr>
        <p:spPr>
          <a:xfrm>
            <a:off x="4983480" y="3703320"/>
            <a:ext cx="2395728" cy="713232"/>
          </a:xfrm>
          <a:prstGeom prst="chevron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Preprocessing</a:t>
            </a:r>
          </a:p>
        </p:txBody>
      </p:sp>
      <p:sp>
        <p:nvSpPr>
          <p:cNvPr id="17414" name="Chevron 17413"/>
          <p:cNvSpPr/>
          <p:nvPr/>
        </p:nvSpPr>
        <p:spPr>
          <a:xfrm>
            <a:off x="7269480" y="3703320"/>
            <a:ext cx="2395728" cy="713232"/>
          </a:xfrm>
          <a:prstGeom prst="chevron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OCR / Text Extraction</a:t>
            </a:r>
          </a:p>
        </p:txBody>
      </p:sp>
      <p:sp>
        <p:nvSpPr>
          <p:cNvPr id="17415" name="Chevron 17414"/>
          <p:cNvSpPr/>
          <p:nvPr/>
        </p:nvSpPr>
        <p:spPr>
          <a:xfrm>
            <a:off x="9555480" y="3703320"/>
            <a:ext cx="2395728" cy="713232"/>
          </a:xfrm>
          <a:prstGeom prst="chevron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Field Identification</a:t>
            </a:r>
          </a:p>
        </p:txBody>
      </p:sp>
      <p:sp>
        <p:nvSpPr>
          <p:cNvPr id="17416" name="Chevron 17415"/>
          <p:cNvSpPr/>
          <p:nvPr/>
        </p:nvSpPr>
        <p:spPr>
          <a:xfrm>
            <a:off x="411480" y="4736592"/>
            <a:ext cx="2395728" cy="713232"/>
          </a:xfrm>
          <a:prstGeom prst="chevron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Validation &amp; Authentication</a:t>
            </a:r>
          </a:p>
        </p:txBody>
      </p:sp>
      <p:sp>
        <p:nvSpPr>
          <p:cNvPr id="17417" name="Chevron 17416"/>
          <p:cNvSpPr/>
          <p:nvPr/>
        </p:nvSpPr>
        <p:spPr>
          <a:xfrm>
            <a:off x="2697480" y="4736592"/>
            <a:ext cx="2395728" cy="713232"/>
          </a:xfrm>
          <a:prstGeom prst="chevron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Compliance Evaluation</a:t>
            </a:r>
          </a:p>
        </p:txBody>
      </p:sp>
      <p:sp>
        <p:nvSpPr>
          <p:cNvPr id="17418" name="Chevron 17417"/>
          <p:cNvSpPr/>
          <p:nvPr/>
        </p:nvSpPr>
        <p:spPr>
          <a:xfrm>
            <a:off x="4983480" y="4736592"/>
            <a:ext cx="2395728" cy="713232"/>
          </a:xfrm>
          <a:prstGeom prst="chevron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Report Generation</a:t>
            </a:r>
          </a:p>
        </p:txBody>
      </p:sp>
      <p:sp>
        <p:nvSpPr>
          <p:cNvPr id="17419" name="Chevron 17418"/>
          <p:cNvSpPr/>
          <p:nvPr/>
        </p:nvSpPr>
        <p:spPr>
          <a:xfrm>
            <a:off x="7269480" y="4736592"/>
            <a:ext cx="2395728" cy="713232"/>
          </a:xfrm>
          <a:prstGeom prst="chevron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Human Review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12648" y="5623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04040"/>
                </a:solidFill>
                <a:latin typeface="Arial"/>
              </a:rPr>
              <a:t>Modular 6-layer architecture: UI (React 18) &gt; API Logic (Node.js) &gt; Ingestion &amp; SHA-256 &gt; OCR Engine (Tesseract) &gt; Rule Engine &gt; PDF Dossier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88720"/>
            <a:ext cx="1124712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500" b="0">
                <a:solidFill>
                  <a:srgbClr val="333333"/>
                </a:solidFill>
                <a:latin typeface="Arial"/>
              </a:rPr>
              <a:t>Built on a modern, high-performance open-source stack (React 18, Node.js, Express, Tesseract.js)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500" b="0">
                <a:solidFill>
                  <a:srgbClr val="333333"/>
                </a:solidFill>
                <a:latin typeface="Arial"/>
              </a:rPr>
              <a:t>Modular architecture - each component can be developed and tested independently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500" b="0">
                <a:solidFill>
                  <a:srgbClr val="333333"/>
                </a:solidFill>
                <a:latin typeface="Arial"/>
              </a:rPr>
              <a:t>Core workflow needs no external APIs; prototype is validated with synthetic test documents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500" b="0">
                <a:solidFill>
                  <a:srgbClr val="333333"/>
                </a:solidFill>
                <a:latin typeface="Arial"/>
              </a:rPr>
              <a:t>OCR accuracy drops on blurry, damaged, handwritten or poorly scanned documents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500" b="0">
                <a:solidFill>
                  <a:srgbClr val="333333"/>
                </a:solidFill>
                <a:latin typeface="Arial"/>
              </a:rPr>
              <a:t>Documents cannot be authenticated without access to a trusted issuing authority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500" b="0">
                <a:solidFill>
                  <a:srgbClr val="333333"/>
                </a:solidFill>
                <a:latin typeface="Arial"/>
              </a:rPr>
              <a:t>Regulatory requirements vary by application type and change over time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500" b="0">
                <a:solidFill>
                  <a:srgbClr val="333333"/>
                </a:solidFill>
                <a:latin typeface="Arial"/>
              </a:rPr>
              <a:t>Applications contain sensitive institutional and personal information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500" b="0">
                <a:solidFill>
                  <a:srgbClr val="333333"/>
                </a:solidFill>
                <a:latin typeface="Arial"/>
              </a:rPr>
              <a:t>Flag low-confidence extractions for human correction instead of trusting them blindly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500" b="0">
                <a:solidFill>
                  <a:srgbClr val="333333"/>
                </a:solidFill>
                <a:latin typeface="Arial"/>
              </a:rPr>
              <a:t>Mark unverifiable checks as pending / unverified; never claim false authentication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500" b="0">
                <a:solidFill>
                  <a:srgbClr val="333333"/>
                </a:solidFill>
                <a:latin typeface="Arial"/>
              </a:rPr>
              <a:t>Configurable, versioned compliance rule sets that reviewers can update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500" b="0">
                <a:solidFill>
                  <a:srgbClr val="333333"/>
                </a:solidFill>
                <a:latin typeface="Arial"/>
              </a:rPr>
              <a:t>Role-based access, audit trails and secure storage; integrate trusted verification services in phases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ZENITH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88720"/>
            <a:ext cx="1124712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500" b="0">
                <a:solidFill>
                  <a:srgbClr val="333333"/>
                </a:solidFill>
                <a:latin typeface="Arial"/>
              </a:rPr>
              <a:t>Educational institutions submitting approval applications: faster submissions with early detection of missing documents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500" b="0">
                <a:solidFill>
                  <a:srgbClr val="333333"/>
                </a:solidFill>
                <a:latin typeface="Arial"/>
              </a:rPr>
              <a:t>Authorized reviewers and administrative staff: consistent preliminary screening instead of repetitive manual comparison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500" b="0">
                <a:solidFill>
                  <a:srgbClr val="333333"/>
                </a:solidFill>
                <a:latin typeface="Arial"/>
              </a:rPr>
              <a:t>Regulatory process as a whole: better visibility of unresolved discrepancies and a traceable record of every check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500" b="0">
                <a:solidFill>
                  <a:srgbClr val="333333"/>
                </a:solidFill>
                <a:latin typeface="Arial"/>
              </a:rPr>
              <a:t>Social - transparency and trust: evidence-based findings that reviewers can verify and explain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500" b="0">
                <a:solidFill>
                  <a:srgbClr val="333333"/>
                </a:solidFill>
                <a:latin typeface="Arial"/>
              </a:rPr>
              <a:t>Economic - less manual effort and processing time per application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500" b="0">
                <a:solidFill>
                  <a:srgbClr val="333333"/>
                </a:solidFill>
                <a:latin typeface="Arial"/>
              </a:rPr>
              <a:t>Process - consistent validation, structured compliance checklists and audit-ready reports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r>
              <a:rPr lang="en-US" sz="1500" b="0">
                <a:solidFill>
                  <a:srgbClr val="333333"/>
                </a:solidFill>
                <a:latin typeface="Arial"/>
              </a:rPr>
              <a:t>Future - modular foundation for integration with trusted verification services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ZENITH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63040"/>
            <a:ext cx="1124712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600" b="0">
                <a:solidFill>
                  <a:srgbClr val="333333"/>
                </a:solidFill>
                <a:latin typeface="Arial"/>
              </a:rPr>
              <a:t>AegisDocs Prototype &amp; Test Verification Suites (test-engine, test-rules, test-api) - Team ZENITH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600" b="0">
                <a:solidFill>
                  <a:srgbClr val="333333"/>
                </a:solidFill>
                <a:latin typeface="Arial"/>
              </a:rPr>
              <a:t>Tesseract OCR engine - github.com/tesseract-ocr/tesseract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600" b="0">
                <a:solidFill>
                  <a:srgbClr val="333333"/>
                </a:solidFill>
                <a:latin typeface="Arial"/>
              </a:rPr>
              <a:t>React 18 &amp; Vite - vitejs.dev; Node.js &amp; Express - nodejs.org, expressjs.com; pdf-lib - pdf-lib.js.org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600" b="0">
                <a:solidFill>
                  <a:srgbClr val="333333"/>
                </a:solidFill>
                <a:latin typeface="Arial"/>
              </a:rPr>
              <a:t>Smart India Hackathon problem statements and guidelines - sih.gov.in</a:t>
            </a:r>
          </a:p>
          <a:p>
            <a:pPr algn="l" marL="285750" indent="-285750">
              <a:spcBef>
                <a:spcPts val="100"/>
              </a:spcBef>
              <a:spcAft>
                <a:spcPts val="100"/>
              </a:spcAft>
              <a:buFont typeface="Arial" pitchFamily="34" charset="0"/>
              <a:buChar char="•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  <a:r>
              <a:rPr lang="en-US" sz="1600" b="0" i="1">
                <a:solidFill>
                  <a:srgbClr val="333333"/>
                </a:solidFill>
                <a:latin typeface="Arial"/>
              </a:rPr>
              <a:t>Research papers and references specific to the chosen problem statement to be added by the team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ZENITH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